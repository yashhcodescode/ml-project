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65" r:id="rId16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F344F"/>
                </a:solidFill>
              </a:defRPr>
            </a:pPr>
            <a:r>
              <a:t>Position Distribution After Filtering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cat>
            <c:strRef>
              <c:f>Sheet1!$A$2:$A$4</c:f>
              <c:strCache>
                <c:ptCount val="3"/>
                <c:pt idx="0">
                  <c:v>DF</c:v>
                </c:pt>
                <c:pt idx="1">
                  <c:v>MF</c:v>
                </c:pt>
                <c:pt idx="2">
                  <c:v>FW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9338</c:v>
                </c:pt>
                <c:pt idx="1">
                  <c:v>8380</c:v>
                </c:pt>
                <c:pt idx="2">
                  <c:v>6316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F344F"/>
                </a:solidFill>
              </a:defRPr>
            </a:pPr>
            <a:r>
              <a:t>Records by Season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cat>
            <c:strRef>
              <c:f>Sheet1!$A$2:$A$9</c:f>
              <c:strCache>
                <c:ptCount val="8"/>
                <c:pt idx="0">
                  <c:v>17–18</c:v>
                </c:pt>
                <c:pt idx="1">
                  <c:v>18–19</c:v>
                </c:pt>
                <c:pt idx="2">
                  <c:v>19–20</c:v>
                </c:pt>
                <c:pt idx="3">
                  <c:v>20–21</c:v>
                </c:pt>
                <c:pt idx="4">
                  <c:v>21–22</c:v>
                </c:pt>
                <c:pt idx="5">
                  <c:v>22–23</c:v>
                </c:pt>
                <c:pt idx="6">
                  <c:v>23–24</c:v>
                </c:pt>
                <c:pt idx="7">
                  <c:v>24–25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2815</c:v>
                </c:pt>
                <c:pt idx="1">
                  <c:v>2760</c:v>
                </c:pt>
                <c:pt idx="2">
                  <c:v>2884</c:v>
                </c:pt>
                <c:pt idx="3">
                  <c:v>3052</c:v>
                </c:pt>
                <c:pt idx="4">
                  <c:v>3189</c:v>
                </c:pt>
                <c:pt idx="5">
                  <c:v>3124</c:v>
                </c:pt>
                <c:pt idx="6">
                  <c:v>3113</c:v>
                </c:pt>
                <c:pt idx="7">
                  <c:v>3097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1F344F"/>
                </a:solidFill>
              </a:defRPr>
            </a:pPr>
            <a:r>
              <a:t>Performance-Level Distribution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Players</c:v>
                </c:pt>
              </c:strCache>
            </c:strRef>
          </c:tx>
          <c:spPr>
            <a:solidFill>
              <a:srgbClr val="4472C4"/>
            </a:solidFill>
            <a:ln>
              <a:solidFill>
                <a:srgbClr val="4472C4"/>
              </a:solidFill>
            </a:ln>
          </c:spPr>
          <c:cat>
            <c:strRef>
              <c:f>Sheet1!$A$2:$A$4</c:f>
              <c:strCache>
                <c:ptCount val="3"/>
                <c:pt idx="0">
                  <c:v>Low</c:v>
                </c:pt>
                <c:pt idx="1">
                  <c:v>Medium</c:v>
                </c:pt>
                <c:pt idx="2">
                  <c:v>High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3646</c:v>
                </c:pt>
                <c:pt idx="1">
                  <c:v>7303</c:v>
                </c:pt>
                <c:pt idx="2">
                  <c:v>3640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82dd9c55-694d-4312-824f-71d23878a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F344F"/>
                </a:solidFill>
                <a:latin typeface="Aptos Display"/>
              </a:defRPr>
            </a:pPr>
            <a:r>
              <a:rPr sz="3000" b="1">
                <a:solidFill>
                  <a:srgbClr val="1F344F"/>
                </a:solidFill>
                <a:latin typeface="Aptos Display"/>
              </a:rPr>
              <a:t>Abstract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448056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bIns="164592" wrap="square"/>
          <a:lstStyle/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Football player performance is influenced by many different statistical indicators.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This project explores how machine learning can be used to classify player performance and identify the factors that are most useful for distinguishing different performance levels.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The approach focuses on interpretable analysis, comparing two ensemble learning methods—Random Forest and XGBoost—to understand both prediction and the relative importance of player statistics.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327648"/>
            <a:ext cx="10863072" cy="16459"/>
          </a:xfrm>
          <a:prstGeom prst="rect">
            <a:avLst/>
          </a:prstGeom>
          <a:solidFill>
            <a:srgbClr val="DD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4150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F344F"/>
                </a:solidFill>
                <a:latin typeface="Aptos Display"/>
              </a:defRPr>
            </a:pPr>
            <a:r>
              <a:rPr sz="3000" b="1">
                <a:solidFill>
                  <a:srgbClr val="1F344F"/>
                </a:solidFill>
                <a:latin typeface="Aptos Display"/>
              </a:rP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448056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bIns="164592" wrap="square"/>
          <a:lstStyle/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Football performance cannot be represented by a single statistic.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Different playing positions have different responsibilities, so the indicators of strong performance are not identical for forwards, midfielders, and defenders.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With a large number of available statistics, it is difficult to determine which factors are most useful for identifying performance levels.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The project addresses this challenge through machine-learning based performance classification and feature-importance analysis.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327648"/>
            <a:ext cx="10863072" cy="16459"/>
          </a:xfrm>
          <a:prstGeom prst="rect">
            <a:avLst/>
          </a:prstGeom>
          <a:solidFill>
            <a:srgbClr val="DD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4150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F344F"/>
                </a:solidFill>
                <a:latin typeface="Aptos Display"/>
              </a:defRPr>
            </a:pPr>
            <a:r>
              <a:rPr sz="3000" b="1">
                <a:solidFill>
                  <a:srgbClr val="1F344F"/>
                </a:solidFill>
                <a:latin typeface="Aptos Display"/>
              </a:rPr>
              <a:t>Objectives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303520" cy="192024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1. Understand Performance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Study the statistical indicators used to describe football player performance.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Consider the different roles of forwards, midfielders, and defenders.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17320"/>
            <a:ext cx="5303520" cy="192024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2. Classify Performance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Organize players into meaningful performance levels such as Low, Medium, and High.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5303520" cy="192024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3. Compare ML Models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Compare Random Forest and XGBoost as ensemble learning approaches for performance classification.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566160"/>
            <a:ext cx="5303520" cy="192024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4. Identify Important Factors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Determine which football statistics contribute most strongly to model-based performance predictions.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6327648"/>
            <a:ext cx="10863072" cy="16459"/>
          </a:xfrm>
          <a:prstGeom prst="rect">
            <a:avLst/>
          </a:prstGeom>
          <a:solidFill>
            <a:srgbClr val="DD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4150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F344F"/>
                </a:solidFill>
                <a:latin typeface="Aptos Display"/>
              </a:defRPr>
            </a:pPr>
            <a:r>
              <a:rPr sz="3000" b="1">
                <a:solidFill>
                  <a:srgbClr val="1F344F"/>
                </a:solidFill>
                <a:latin typeface="Aptos Display"/>
              </a:rPr>
              <a:t>Why Random Forest?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429000" cy="438912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Handles Many Features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Football performance involves many statistical variables. Random Forest can work effectively with a large set of numerical features.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17320"/>
            <a:ext cx="3429000" cy="438912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Captures Nonlinear Patterns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Player statistics do not always have a simple linear relationship with performance. Decision trees can capture complex relationships.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3429000" cy="438912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Interpretable Comparison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Random Forest provides feature-importance information, making it useful when the goal is to understand which statistics influence predictions.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27648"/>
            <a:ext cx="10863072" cy="16459"/>
          </a:xfrm>
          <a:prstGeom prst="rect">
            <a:avLst/>
          </a:prstGeom>
          <a:solidFill>
            <a:srgbClr val="DD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4150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F344F"/>
                </a:solidFill>
                <a:latin typeface="Aptos Display"/>
              </a:defRPr>
            </a:pPr>
            <a:r>
              <a:rPr sz="3000" b="1">
                <a:solidFill>
                  <a:srgbClr val="1F344F"/>
                </a:solidFill>
                <a:latin typeface="Aptos Display"/>
              </a:rPr>
              <a:t>Why XGBoost?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429000" cy="438912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Strong Predictive Power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XGBoost is a powerful gradient-boosting method designed to build accurate predictive models.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17320"/>
            <a:ext cx="3429000" cy="438912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Learns from Errors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The model builds trees sequentially, allowing later trees to focus on correcting errors made by earlier trees.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3429000" cy="438912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Useful for Complex Data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It can model nonlinear relationships and interactions among football statistics, making it suitable for player-performance analysis.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27648"/>
            <a:ext cx="10863072" cy="16459"/>
          </a:xfrm>
          <a:prstGeom prst="rect">
            <a:avLst/>
          </a:prstGeom>
          <a:solidFill>
            <a:srgbClr val="DD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4150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F344F"/>
                </a:solidFill>
                <a:latin typeface="Aptos Display"/>
              </a:defRPr>
            </a:pPr>
            <a:r>
              <a:rPr sz="3000" b="1">
                <a:solidFill>
                  <a:srgbClr val="1F344F"/>
                </a:solidFill>
                <a:latin typeface="Aptos Display"/>
              </a:rPr>
              <a:t>Random Forest vs XGBoost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5303520" cy="429768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Random Forest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• Builds many decision trees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• Trees are combined to produce a final prediction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• Robust and relatively simple to interpret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• Provides feature-importance measures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• Good baseline ensemble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417320"/>
            <a:ext cx="5303520" cy="429768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XGBoost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• Uses gradient boosting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• Builds trees sequentially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• Later trees focus on previous errors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• Often achieves strong predictive performance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• Supports feature-importance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327648"/>
            <a:ext cx="10863072" cy="16459"/>
          </a:xfrm>
          <a:prstGeom prst="rect">
            <a:avLst/>
          </a:prstGeom>
          <a:solidFill>
            <a:srgbClr val="DD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4150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F344F"/>
                </a:solidFill>
                <a:latin typeface="Aptos Display"/>
              </a:defRPr>
            </a:pPr>
            <a:r>
              <a:rPr sz="3000" b="1">
                <a:solidFill>
                  <a:srgbClr val="1F344F"/>
                </a:solidFill>
                <a:latin typeface="Aptos Display"/>
              </a:rPr>
              <a:t>Why This Analysis Matters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3429000" cy="438912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Position-Aware Evaluation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A forward, midfielder, and defender contribute to a team in different ways. Performance analysis should reflect those different responsibilities.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17320"/>
            <a:ext cx="3429000" cy="438912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Data-Driven Decisions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Statistical analysis can support scouting, player comparison, recruitment, coaching, and performance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417320"/>
            <a:ext cx="3429000" cy="438912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wrap="square" bIns="164592"/>
          <a:lstStyle/>
          <a:p>
            <a:pPr algn="l">
              <a:lnSpc>
                <a:spcPct val="112000"/>
              </a:lnSpc>
              <a:spcAft>
                <a:spcPts val="800"/>
              </a:spcAft>
              <a:defRPr sz="2000" b="1">
                <a:solidFill>
                  <a:srgbClr val="4472C4"/>
                </a:solidFill>
                <a:latin typeface="Aptos Display"/>
              </a:defRPr>
            </a:pPr>
            <a:r>
              <a:rPr sz="2000" b="1">
                <a:solidFill>
                  <a:srgbClr val="4472C4"/>
                </a:solidFill>
                <a:latin typeface="Aptos Display"/>
              </a:rPr>
              <a:t>Interpretability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4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Knowing which factors are important makes an ML system more useful than a model that only produces a prediction without explanation.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6327648"/>
            <a:ext cx="10863072" cy="16459"/>
          </a:xfrm>
          <a:prstGeom prst="rect">
            <a:avLst/>
          </a:prstGeom>
          <a:solidFill>
            <a:srgbClr val="DD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4150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5943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800" b="1">
                <a:solidFill>
                  <a:srgbClr val="1F344F"/>
                </a:solidFill>
                <a:latin typeface="Aptos Display"/>
              </a:defRPr>
            </a:pPr>
            <a:r>
              <a:rPr sz="3000" b="1">
                <a:solidFill>
                  <a:srgbClr val="1F344F"/>
                </a:solidFill>
                <a:latin typeface="Aptos Display"/>
              </a:rPr>
              <a:t>Conclusion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10515600" cy="4480560"/>
          </a:xfrm>
          <a:prstGeom prst="roundRect">
            <a:avLst/>
          </a:prstGeom>
          <a:solidFill>
            <a:srgbClr val="F2F6FB"/>
          </a:solidFill>
          <a:ln w="13970">
            <a:solidFill>
              <a:srgbClr val="DDE6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56032" rIns="256032" tIns="182880" bIns="164592" wrap="square"/>
          <a:lstStyle/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The project demonstrates how machine learning can support football player performance analysis.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Random Forest and XGBoost are suitable because they can model complex relationships among multiple player statistics while also providing information about important features.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</a:p>
          <a:p>
            <a:pPr algn="l">
              <a:lnSpc>
                <a:spcPct val="112000"/>
              </a:lnSpc>
              <a:spcAft>
                <a:spcPts val="700"/>
              </a:spcAft>
              <a:defRPr sz="1900">
                <a:solidFill>
                  <a:srgbClr val="2D3746"/>
                </a:solidFill>
                <a:latin typeface="Aptos"/>
              </a:defRPr>
            </a:pPr>
            <a:r>
              <a:rPr sz="1800">
                <a:solidFill>
                  <a:srgbClr val="2D3746"/>
                </a:solidFill>
                <a:latin typeface="Aptos"/>
              </a:rPr>
              <a:t>Future work can extend the analysis with more leagues and seasons, richer match and tactical context, improved model tuning, and advanced explainability techniques such as SHAP.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6327648"/>
            <a:ext cx="10863072" cy="16459"/>
          </a:xfrm>
          <a:prstGeom prst="rect">
            <a:avLst/>
          </a:prstGeom>
          <a:solidFill>
            <a:srgbClr val="DDE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415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F344F"/>
                </a:solidFill>
                <a:latin typeface="Aptos Display"/>
              </a:defRPr>
            </a:pPr>
            <a:r>
              <a:t>Exploratory Data Analysis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374150"/>
                </a:solidFill>
                <a:latin typeface="Aptos"/>
              </a:defRPr>
            </a:pPr>
            <a:r>
              <a:t>Understanding the dataset before performance scoring and machine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2057400" cy="960120"/>
          </a:xfrm>
          <a:prstGeom prst="roundRect">
            <a:avLst/>
          </a:prstGeom>
          <a:solidFill>
            <a:srgbClr val="EBF1F9"/>
          </a:solidFill>
          <a:ln w="1524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374150"/>
                </a:solidFill>
                <a:latin typeface="Aptos"/>
              </a:defRPr>
            </a:pPr>
            <a:r>
              <a:t>RAW DATASET</a:t>
            </a:r>
          </a:p>
          <a:p>
            <a:pPr algn="ctr">
              <a:defRPr sz="2000" b="1">
                <a:solidFill>
                  <a:srgbClr val="1F344F"/>
                </a:solidFill>
                <a:latin typeface="Aptos Display"/>
              </a:defRPr>
            </a:pPr>
            <a:r>
              <a:t>92,170 × 120</a:t>
            </a:r>
          </a:p>
          <a:p>
            <a:pPr algn="ctr">
              <a:defRPr sz="850">
                <a:solidFill>
                  <a:srgbClr val="374150"/>
                </a:solidFill>
                <a:latin typeface="Aptos"/>
              </a:defRPr>
            </a:pPr>
            <a:r>
              <a:t>rows × columns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234440"/>
            <a:ext cx="2057400" cy="960120"/>
          </a:xfrm>
          <a:prstGeom prst="roundRect">
            <a:avLst/>
          </a:prstGeom>
          <a:solidFill>
            <a:srgbClr val="EBF1F9"/>
          </a:solidFill>
          <a:ln w="1524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374150"/>
                </a:solidFill>
                <a:latin typeface="Aptos"/>
              </a:defRPr>
            </a:pPr>
            <a:r>
              <a:t>POSITION FILTER</a:t>
            </a:r>
          </a:p>
          <a:p>
            <a:pPr algn="ctr">
              <a:defRPr sz="2000" b="1">
                <a:solidFill>
                  <a:srgbClr val="1F344F"/>
                </a:solidFill>
                <a:latin typeface="Aptos Display"/>
              </a:defRPr>
            </a:pPr>
            <a:r>
              <a:t>24,034</a:t>
            </a:r>
          </a:p>
          <a:p>
            <a:pPr algn="ctr">
              <a:defRPr sz="850">
                <a:solidFill>
                  <a:srgbClr val="374150"/>
                </a:solidFill>
                <a:latin typeface="Aptos"/>
              </a:defRPr>
            </a:pPr>
            <a:r>
              <a:t>FW + MF + DF records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1234440"/>
            <a:ext cx="2057400" cy="960120"/>
          </a:xfrm>
          <a:prstGeom prst="roundRect">
            <a:avLst/>
          </a:prstGeom>
          <a:solidFill>
            <a:srgbClr val="EBF1F9"/>
          </a:solidFill>
          <a:ln w="1524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374150"/>
                </a:solidFill>
                <a:latin typeface="Aptos"/>
              </a:defRPr>
            </a:pPr>
            <a:r>
              <a:t>450-MIN FILTER</a:t>
            </a:r>
          </a:p>
          <a:p>
            <a:pPr algn="ctr">
              <a:defRPr sz="2000" b="1">
                <a:solidFill>
                  <a:srgbClr val="1F344F"/>
                </a:solidFill>
                <a:latin typeface="Aptos Display"/>
              </a:defRPr>
            </a:pPr>
            <a:r>
              <a:t>14,812</a:t>
            </a:r>
          </a:p>
          <a:p>
            <a:pPr algn="ctr">
              <a:defRPr sz="850">
                <a:solidFill>
                  <a:srgbClr val="374150"/>
                </a:solidFill>
                <a:latin typeface="Aptos"/>
              </a:defRPr>
            </a:pPr>
            <a:r>
              <a:t>players retained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78040" y="1234440"/>
            <a:ext cx="2057400" cy="960120"/>
          </a:xfrm>
          <a:prstGeom prst="roundRect">
            <a:avLst/>
          </a:prstGeom>
          <a:solidFill>
            <a:srgbClr val="EBF1F9"/>
          </a:solidFill>
          <a:ln w="1524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374150"/>
                </a:solidFill>
                <a:latin typeface="Aptos"/>
              </a:defRPr>
            </a:pPr>
            <a:r>
              <a:t>DUPLICATES FOUND</a:t>
            </a:r>
          </a:p>
          <a:p>
            <a:pPr algn="ctr">
              <a:defRPr sz="2000" b="1">
                <a:solidFill>
                  <a:srgbClr val="1F344F"/>
                </a:solidFill>
                <a:latin typeface="Aptos Display"/>
              </a:defRPr>
            </a:pPr>
            <a:r>
              <a:t>223</a:t>
            </a:r>
          </a:p>
          <a:p>
            <a:pPr algn="ctr">
              <a:defRPr sz="850">
                <a:solidFill>
                  <a:srgbClr val="374150"/>
                </a:solidFill>
                <a:latin typeface="Aptos"/>
              </a:defRPr>
            </a:pPr>
            <a:r>
              <a:t>duplicate player-season groups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72600" y="1234440"/>
            <a:ext cx="2057400" cy="960120"/>
          </a:xfrm>
          <a:prstGeom prst="roundRect">
            <a:avLst/>
          </a:prstGeom>
          <a:solidFill>
            <a:srgbClr val="EBF1F9"/>
          </a:solidFill>
          <a:ln w="15240">
            <a:solidFill>
              <a:srgbClr val="D8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>
              <a:defRPr sz="1050" b="1">
                <a:solidFill>
                  <a:srgbClr val="374150"/>
                </a:solidFill>
                <a:latin typeface="Aptos"/>
              </a:defRPr>
            </a:pPr>
            <a:r>
              <a:t>FINAL DATA</a:t>
            </a:r>
          </a:p>
          <a:p>
            <a:pPr algn="ctr">
              <a:defRPr sz="2000" b="1">
                <a:solidFill>
                  <a:srgbClr val="1F344F"/>
                </a:solidFill>
                <a:latin typeface="Aptos Display"/>
              </a:defRPr>
            </a:pPr>
            <a:r>
              <a:t>14,589</a:t>
            </a:r>
          </a:p>
          <a:p>
            <a:pPr algn="ctr">
              <a:defRPr sz="850">
                <a:solidFill>
                  <a:srgbClr val="374150"/>
                </a:solidFill>
                <a:latin typeface="Aptos"/>
              </a:defRPr>
            </a:pPr>
            <a:r>
              <a:t>player-season records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94360" y="2423160"/>
          <a:ext cx="3657600" cy="2514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389120" y="2423160"/>
          <a:ext cx="3657600" cy="2514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8183879" y="2423160"/>
          <a:ext cx="3337560" cy="2514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94360" y="5138928"/>
            <a:ext cx="10927080" cy="1051560"/>
          </a:xfrm>
          <a:prstGeom prst="roundRect">
            <a:avLst/>
          </a:prstGeom>
          <a:solidFill>
            <a:srgbClr val="E1F0E7"/>
          </a:solidFill>
          <a:ln>
            <a:solidFill>
              <a:srgbClr val="5E8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1400" b="1">
                <a:solidFill>
                  <a:srgbClr val="1F344F"/>
                </a:solidFill>
                <a:latin typeface="Aptos Display"/>
              </a:defRPr>
            </a:pPr>
            <a:r>
              <a:t>EDA Findings</a:t>
            </a:r>
          </a:p>
          <a:p>
            <a:pPr>
              <a:defRPr sz="1050">
                <a:solidFill>
                  <a:srgbClr val="374150"/>
                </a:solidFill>
                <a:latin typeface="Aptos"/>
              </a:defRPr>
            </a:pPr>
            <a:r>
              <a:t>• 24,034 records remained after selecting 2017–18 to 2024–25 and FW/MF/DF positions.</a:t>
            </a:r>
          </a:p>
          <a:p>
            <a:pPr>
              <a:defRPr sz="1050">
                <a:solidFill>
                  <a:srgbClr val="374150"/>
                </a:solidFill>
                <a:latin typeface="Aptos"/>
              </a:defRPr>
            </a:pPr>
            <a:r>
              <a:t>• 223 duplicate player-season groups were identified and then combined; the final dataset has 14,589 unique player-season records.</a:t>
            </a:r>
          </a:p>
          <a:p>
            <a:pPr>
              <a:defRPr sz="1050">
                <a:solidFill>
                  <a:srgbClr val="374150"/>
                </a:solidFill>
                <a:latin typeface="Aptos"/>
              </a:defRPr>
            </a:pPr>
            <a:r>
              <a:t>• After the 450-minute filter, all score variables used for the performance score had 0 missing values.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419088"/>
            <a:ext cx="10927080" cy="13716"/>
          </a:xfrm>
          <a:prstGeom prst="rect">
            <a:avLst/>
          </a:prstGeom>
          <a:solidFill>
            <a:srgbClr val="D8E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44200" y="6473952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4150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